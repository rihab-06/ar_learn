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2.svg" ContentType="image/svg+xml"/>
  <Override PartName="/ppt/media/image14.svg" ContentType="image/svg+xml"/>
  <Override PartName="/ppt/media/image19.svg" ContentType="image/svg+xml"/>
  <Override PartName="/ppt/media/image2.svg" ContentType="image/svg+xml"/>
  <Override PartName="/ppt/media/image31.svg" ContentType="image/svg+xml"/>
  <Override PartName="/ppt/media/image33.svg" ContentType="image/svg+xml"/>
  <Override PartName="/ppt/media/image5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6858000" cy="9144000"/>
  <p:embeddedFontLst>
    <p:embeddedFont>
      <p:font typeface="League Spartan" panose="00000800000000000000"/>
      <p:bold r:id="rId18"/>
    </p:embeddedFont>
    <p:embeddedFont>
      <p:font typeface="Gotham"/>
      <p:regular r:id="rId19"/>
    </p:embeddedFont>
    <p:embeddedFont>
      <p:font typeface="Gotham Bold"/>
      <p:bold r:id="rId20"/>
    </p:embeddedFont>
    <p:embeddedFont>
      <p:font typeface="Open Sans Bold" panose="020B0806030504020204"/>
      <p:bold r:id="rId21"/>
    </p:embeddedFont>
    <p:embeddedFont>
      <p:font typeface="Open Sans" panose="020B0606030504020204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5.jpe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4.jpeg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81796" y="-541995"/>
            <a:ext cx="7206204" cy="10828995"/>
          </a:xfrm>
          <a:custGeom>
            <a:avLst/>
            <a:gdLst/>
            <a:ahLst/>
            <a:cxnLst/>
            <a:rect l="l" t="t" r="r" b="b"/>
            <a:pathLst>
              <a:path w="7206204" h="10828995">
                <a:moveTo>
                  <a:pt x="0" y="0"/>
                </a:moveTo>
                <a:lnTo>
                  <a:pt x="7206204" y="0"/>
                </a:lnTo>
                <a:lnTo>
                  <a:pt x="7206204" y="10828995"/>
                </a:lnTo>
                <a:lnTo>
                  <a:pt x="0" y="1082899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3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10128717" y="5108938"/>
            <a:ext cx="1676851" cy="69123"/>
            <a:chOff x="0" y="0"/>
            <a:chExt cx="441640" cy="182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1640" cy="18205"/>
            </a:xfrm>
            <a:custGeom>
              <a:avLst/>
              <a:gdLst/>
              <a:ahLst/>
              <a:cxnLst/>
              <a:rect l="l" t="t" r="r" b="b"/>
              <a:pathLst>
                <a:path w="441640" h="18205">
                  <a:moveTo>
                    <a:pt x="0" y="0"/>
                  </a:moveTo>
                  <a:lnTo>
                    <a:pt x="441640" y="0"/>
                  </a:lnTo>
                  <a:lnTo>
                    <a:pt x="441640" y="18205"/>
                  </a:lnTo>
                  <a:lnTo>
                    <a:pt x="0" y="18205"/>
                  </a:lnTo>
                  <a:close/>
                </a:path>
              </a:pathLst>
            </a:custGeom>
            <a:solidFill>
              <a:srgbClr val="F7E7D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1640" cy="56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545454"/>
            <a:ext cx="9903881" cy="1959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90"/>
              </a:lnSpc>
            </a:pPr>
            <a:r>
              <a:rPr lang="en-US" sz="7880" spc="-39">
                <a:solidFill>
                  <a:srgbClr val="F7E7D7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Présentation du site AR_Learn </a:t>
            </a:r>
            <a:endParaRPr lang="en-US" sz="7880" spc="-39">
              <a:solidFill>
                <a:srgbClr val="F7E7D7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4719779"/>
            <a:ext cx="6827306" cy="441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760">
                <a:solidFill>
                  <a:srgbClr val="F7E7D7"/>
                </a:solidFill>
                <a:latin typeface="Gotham"/>
                <a:ea typeface="Gotham"/>
                <a:cs typeface="Gotham"/>
                <a:sym typeface="Gotham"/>
              </a:rPr>
              <a:t>PLATEFORME DES QUIZS </a:t>
            </a:r>
            <a:endParaRPr lang="en-US" sz="2760">
              <a:solidFill>
                <a:srgbClr val="F7E7D7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266574" y="7921782"/>
            <a:ext cx="6827306" cy="1336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760">
                <a:solidFill>
                  <a:srgbClr val="F7E7D7"/>
                </a:solidFill>
                <a:latin typeface="Gotham"/>
                <a:ea typeface="Gotham"/>
                <a:cs typeface="Gotham"/>
                <a:sym typeface="Gotham"/>
              </a:rPr>
              <a:t>PRESENTER PAR : ROCHDI RIHAB </a:t>
            </a:r>
            <a:endParaRPr lang="en-US" sz="2760">
              <a:solidFill>
                <a:srgbClr val="F7E7D7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590"/>
              </a:lnSpc>
            </a:pPr>
            <a:r>
              <a:rPr lang="en-US" sz="2760">
                <a:solidFill>
                  <a:srgbClr val="F7E7D7"/>
                </a:solidFill>
                <a:latin typeface="Gotham"/>
                <a:ea typeface="Gotham"/>
                <a:cs typeface="Gotham"/>
                <a:sym typeface="Gotham"/>
              </a:rPr>
              <a:t>                                AMAL EL-ANAZI</a:t>
            </a:r>
            <a:endParaRPr lang="en-US" sz="2760">
              <a:solidFill>
                <a:srgbClr val="F7E7D7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590"/>
              </a:lnSpc>
            </a:pPr>
          </a:p>
        </p:txBody>
      </p:sp>
      <p:pic>
        <p:nvPicPr>
          <p:cNvPr id="9" name="Image 8" descr="logo-ap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8015" y="419100"/>
            <a:ext cx="8333105" cy="83331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-4341003" y="4190514"/>
            <a:ext cx="10587979" cy="1905972"/>
            <a:chOff x="0" y="0"/>
            <a:chExt cx="2788604" cy="5019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88604" cy="501984"/>
            </a:xfrm>
            <a:custGeom>
              <a:avLst/>
              <a:gdLst/>
              <a:ahLst/>
              <a:cxnLst/>
              <a:rect l="l" t="t" r="r" b="b"/>
              <a:pathLst>
                <a:path w="2788604" h="501984">
                  <a:moveTo>
                    <a:pt x="0" y="0"/>
                  </a:moveTo>
                  <a:lnTo>
                    <a:pt x="2788604" y="0"/>
                  </a:lnTo>
                  <a:lnTo>
                    <a:pt x="2788604" y="501984"/>
                  </a:lnTo>
                  <a:lnTo>
                    <a:pt x="0" y="501984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88604" cy="540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11081796" y="-541995"/>
            <a:ext cx="7206204" cy="10828995"/>
          </a:xfrm>
          <a:custGeom>
            <a:avLst/>
            <a:gdLst/>
            <a:ahLst/>
            <a:cxnLst/>
            <a:rect l="l" t="t" r="r" b="b"/>
            <a:pathLst>
              <a:path w="7206204" h="10828995">
                <a:moveTo>
                  <a:pt x="0" y="0"/>
                </a:moveTo>
                <a:lnTo>
                  <a:pt x="7206204" y="0"/>
                </a:lnTo>
                <a:lnTo>
                  <a:pt x="7206204" y="10828995"/>
                </a:lnTo>
                <a:lnTo>
                  <a:pt x="0" y="1082899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081191" y="-74147"/>
            <a:ext cx="6258584" cy="9693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présentation du site web</a:t>
            </a: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Périmètre fonctionnel</a:t>
            </a: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Diagramme de cas d'utilisation</a:t>
            </a: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7105"/>
              </a:lnSpc>
            </a:pPr>
            <a:r>
              <a:rPr lang="en-US" sz="2900" spc="-58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Architecture de la base de données</a:t>
            </a:r>
            <a:endParaRPr lang="en-US" sz="2900" spc="-58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Technologies utilisées</a:t>
            </a: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M</a:t>
            </a: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odule Authentification</a:t>
            </a: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Module Administrateur</a:t>
            </a: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Module utulisateur </a:t>
            </a: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Difficultés rencontrées</a:t>
            </a: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Conclusion</a:t>
            </a: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916245" y="273051"/>
            <a:ext cx="776617" cy="9788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1</a:t>
            </a: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2</a:t>
            </a: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3</a:t>
            </a: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4</a:t>
            </a: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5</a:t>
            </a: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6</a:t>
            </a: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7</a:t>
            </a: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8</a:t>
            </a: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9</a:t>
            </a: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10</a:t>
            </a:r>
            <a:endParaRPr lang="en-US" sz="3200" spc="-6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416658" y="8997772"/>
            <a:ext cx="9480537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2416658" y="2009119"/>
            <a:ext cx="9480537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2416658" y="4220040"/>
            <a:ext cx="9480537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2435708" y="5830443"/>
            <a:ext cx="9480537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2435708" y="6859143"/>
            <a:ext cx="9480537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2435708" y="7928457"/>
            <a:ext cx="9480537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 rot="-5400000">
            <a:off x="-2136800" y="4497386"/>
            <a:ext cx="7708544" cy="1292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5"/>
              </a:lnSpc>
            </a:pPr>
            <a:r>
              <a:rPr lang="en-US" sz="10100" spc="-505">
                <a:solidFill>
                  <a:srgbClr val="FAF2EA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SOMMAIRE</a:t>
            </a:r>
            <a:endParaRPr lang="en-US" sz="10100" spc="-505">
              <a:solidFill>
                <a:srgbClr val="FAF2EA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2435708" y="3115140"/>
            <a:ext cx="9480537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2416658" y="976312"/>
            <a:ext cx="9480537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2435708" y="4967753"/>
            <a:ext cx="9480537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834954" y="3587856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6458002" y="4882373"/>
            <a:ext cx="0" cy="4385452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0">
            <a:off x="0" y="0"/>
            <a:ext cx="6768300" cy="1312616"/>
            <a:chOff x="0" y="0"/>
            <a:chExt cx="1782597" cy="3457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6768300" y="0"/>
            <a:ext cx="11519700" cy="1312616"/>
            <a:chOff x="0" y="0"/>
            <a:chExt cx="1784703" cy="2033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84703" cy="203359"/>
            </a:xfrm>
            <a:custGeom>
              <a:avLst/>
              <a:gdLst/>
              <a:ahLst/>
              <a:cxnLst/>
              <a:rect l="l" t="t" r="r" b="b"/>
              <a:pathLst>
                <a:path w="1784703" h="203359">
                  <a:moveTo>
                    <a:pt x="0" y="0"/>
                  </a:moveTo>
                  <a:lnTo>
                    <a:pt x="1784703" y="0"/>
                  </a:lnTo>
                  <a:lnTo>
                    <a:pt x="1784703" y="203359"/>
                  </a:lnTo>
                  <a:lnTo>
                    <a:pt x="0" y="203359"/>
                  </a:lnTo>
                  <a:close/>
                </a:path>
              </a:pathLst>
            </a:custGeom>
            <a:blipFill>
              <a:blip r:embed="rId1"/>
              <a:stretch>
                <a:fillRect t="-161456" b="-323253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2973779" y="2830804"/>
            <a:ext cx="5003747" cy="6803071"/>
          </a:xfrm>
          <a:custGeom>
            <a:avLst/>
            <a:gdLst/>
            <a:ahLst/>
            <a:cxnLst/>
            <a:rect l="l" t="t" r="r" b="b"/>
            <a:pathLst>
              <a:path w="5003747" h="6803071">
                <a:moveTo>
                  <a:pt x="0" y="0"/>
                </a:moveTo>
                <a:lnTo>
                  <a:pt x="5003747" y="0"/>
                </a:lnTo>
                <a:lnTo>
                  <a:pt x="5003747" y="6803071"/>
                </a:lnTo>
                <a:lnTo>
                  <a:pt x="0" y="6803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85" t="-1589" b="-158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789930" y="4536031"/>
            <a:ext cx="5859999" cy="2386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1970" b="1" spc="17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Problématique : </a:t>
            </a:r>
            <a:endParaRPr lang="en-US" sz="1970" b="1" spc="17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3150"/>
              </a:lnSpc>
            </a:pPr>
            <a:r>
              <a:rPr lang="en-US" sz="1970" spc="17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Comment créer une plateforme interactive  permettant aux étudiants de:  </a:t>
            </a:r>
            <a:endParaRPr lang="en-US" sz="1970" spc="17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150"/>
              </a:lnSpc>
            </a:pPr>
            <a:r>
              <a:rPr lang="en-US" sz="1970" spc="17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• Tester leurs connaissances </a:t>
            </a:r>
            <a:endParaRPr lang="en-US" sz="1970" spc="17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150"/>
              </a:lnSpc>
            </a:pPr>
            <a:r>
              <a:rPr lang="en-US" sz="1970" spc="17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• Créer leurs propres quiz </a:t>
            </a:r>
            <a:endParaRPr lang="en-US" sz="1970" spc="17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150"/>
              </a:lnSpc>
            </a:pPr>
            <a:r>
              <a:rPr lang="en-US" sz="1970" spc="18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• Suivre leur progression</a:t>
            </a:r>
            <a:endParaRPr lang="en-US" sz="1970" spc="18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38799" y="4143524"/>
            <a:ext cx="4222956" cy="549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</a:p>
          <a:p>
            <a:pPr algn="l">
              <a:lnSpc>
                <a:spcPts val="2575"/>
              </a:lnSpc>
            </a:pP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Objectifs fonctionnels :</a:t>
            </a:r>
            <a:endParaRPr lang="en-US" sz="1610" b="1" spc="14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Système d'authentification avec gestion de rôles</a:t>
            </a:r>
            <a:endParaRPr lang="en-US" sz="1610" spc="1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Structure hiérarchique : Catégories → Thèmes → Quiz → Questions</a:t>
            </a:r>
            <a:endParaRPr lang="en-US" sz="1610" spc="1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Passage de quiz avec notation automatique</a:t>
            </a:r>
            <a:endParaRPr lang="en-US" sz="1610" spc="1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Suivi des performances utilisateurs</a:t>
            </a:r>
            <a:endParaRPr lang="en-US" sz="1610" spc="1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575"/>
              </a:lnSpc>
            </a:pP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Objectifs techniques :</a:t>
            </a:r>
            <a:endParaRPr lang="en-US" sz="1610" b="1" spc="14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Maîtriser l'architecture MVC avec CodeIgniter</a:t>
            </a:r>
            <a:endParaRPr lang="en-US" sz="1610" spc="1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Concevoir une base de données relationnelle optimisée</a:t>
            </a:r>
            <a:endParaRPr lang="en-US" sz="1610" spc="1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Appliquer les bonnes pratiques de sécurité web</a:t>
            </a:r>
            <a:endParaRPr lang="en-US" sz="1610" spc="1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575"/>
              </a:lnSpc>
            </a:pPr>
          </a:p>
        </p:txBody>
      </p:sp>
      <p:sp>
        <p:nvSpPr>
          <p:cNvPr id="14" name="TextBox 14"/>
          <p:cNvSpPr txBox="1"/>
          <p:nvPr/>
        </p:nvSpPr>
        <p:spPr>
          <a:xfrm>
            <a:off x="1822303" y="2835376"/>
            <a:ext cx="7321697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spc="-77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présentation du site web</a:t>
            </a:r>
            <a:endParaRPr lang="en-US" sz="3900" spc="-77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19200" y="2249398"/>
            <a:ext cx="469753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spc="-77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1.</a:t>
            </a:r>
            <a:endParaRPr lang="en-US" sz="3900" spc="-77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5"/>
              </a:lnSpc>
            </a:pPr>
            <a:r>
              <a:rPr lang="en-US" sz="1310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3</a:t>
            </a:r>
            <a:endParaRPr lang="en-US" sz="1310" b="1" spc="12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911178" y="2658270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1315708" y="3666253"/>
            <a:ext cx="1111965" cy="1113674"/>
          </a:xfrm>
          <a:custGeom>
            <a:avLst/>
            <a:gdLst/>
            <a:ahLst/>
            <a:cxnLst/>
            <a:rect l="l" t="t" r="r" b="b"/>
            <a:pathLst>
              <a:path w="1111965" h="1113674">
                <a:moveTo>
                  <a:pt x="0" y="0"/>
                </a:moveTo>
                <a:lnTo>
                  <a:pt x="1111965" y="0"/>
                </a:lnTo>
                <a:lnTo>
                  <a:pt x="1111965" y="1113674"/>
                </a:lnTo>
                <a:lnTo>
                  <a:pt x="0" y="111367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15038714" y="1235812"/>
            <a:ext cx="785761" cy="78576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E7D7"/>
            </a:solidFill>
            <a:ln w="19050" cap="sq">
              <a:solidFill>
                <a:srgbClr val="00225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11004064" y="1235812"/>
            <a:ext cx="785761" cy="78576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8E81"/>
            </a:solidFill>
            <a:ln w="19050" cap="sq">
              <a:solidFill>
                <a:srgbClr val="00225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13416945" y="1260006"/>
            <a:ext cx="0" cy="8141169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 rot="0">
            <a:off x="0" y="0"/>
            <a:ext cx="8543491" cy="1312616"/>
            <a:chOff x="0" y="0"/>
            <a:chExt cx="2250137" cy="3457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50137" cy="345710"/>
            </a:xfrm>
            <a:custGeom>
              <a:avLst/>
              <a:gdLst/>
              <a:ahLst/>
              <a:cxnLst/>
              <a:rect l="l" t="t" r="r" b="b"/>
              <a:pathLst>
                <a:path w="2250137" h="345710">
                  <a:moveTo>
                    <a:pt x="0" y="0"/>
                  </a:moveTo>
                  <a:lnTo>
                    <a:pt x="2250137" y="0"/>
                  </a:lnTo>
                  <a:lnTo>
                    <a:pt x="225013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CD8E81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5013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6" name="Freeform 16"/>
          <p:cNvSpPr/>
          <p:nvPr/>
        </p:nvSpPr>
        <p:spPr>
          <a:xfrm>
            <a:off x="0" y="5980170"/>
            <a:ext cx="8036225" cy="3918076"/>
          </a:xfrm>
          <a:custGeom>
            <a:avLst/>
            <a:gdLst/>
            <a:ahLst/>
            <a:cxnLst/>
            <a:rect l="l" t="t" r="r" b="b"/>
            <a:pathLst>
              <a:path w="8036225" h="3918076">
                <a:moveTo>
                  <a:pt x="0" y="0"/>
                </a:moveTo>
                <a:lnTo>
                  <a:pt x="8036225" y="0"/>
                </a:lnTo>
                <a:lnTo>
                  <a:pt x="8036225" y="3918077"/>
                </a:lnTo>
                <a:lnTo>
                  <a:pt x="0" y="39180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546370" y="52094"/>
            <a:ext cx="5663048" cy="1207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5"/>
              </a:lnSpc>
            </a:pPr>
          </a:p>
          <a:p>
            <a:pPr algn="l">
              <a:lnSpc>
                <a:spcPts val="3535"/>
              </a:lnSpc>
            </a:pPr>
            <a:r>
              <a:rPr lang="en-US" sz="2210" b="1" spc="19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Deux espaces distincts :</a:t>
            </a:r>
            <a:endParaRPr lang="en-US" sz="2210" b="1" spc="19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2575"/>
              </a:lnSpc>
            </a:pPr>
          </a:p>
        </p:txBody>
      </p:sp>
      <p:sp>
        <p:nvSpPr>
          <p:cNvPr id="18" name="TextBox 18"/>
          <p:cNvSpPr txBox="1"/>
          <p:nvPr/>
        </p:nvSpPr>
        <p:spPr>
          <a:xfrm>
            <a:off x="1911178" y="1922348"/>
            <a:ext cx="6125046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b="1" spc="-77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Périmètre fonctionnel</a:t>
            </a:r>
            <a:endParaRPr lang="en-US" sz="3900" b="1" spc="-77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846871" y="9444641"/>
            <a:ext cx="2130655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5"/>
              </a:lnSpc>
            </a:pPr>
            <a:r>
              <a:rPr lang="en-US" sz="1310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4</a:t>
            </a:r>
            <a:endParaRPr lang="en-US" sz="1310" b="1" spc="12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spc="-77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2.</a:t>
            </a:r>
            <a:endParaRPr lang="en-US" sz="3900" spc="-77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543491" y="3335631"/>
            <a:ext cx="4466526" cy="1462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65"/>
              </a:lnSpc>
            </a:pPr>
          </a:p>
          <a:p>
            <a:pPr marL="365125" lvl="1" indent="-182245" algn="just">
              <a:lnSpc>
                <a:spcPts val="2365"/>
              </a:lnSpc>
              <a:buFont typeface="Arial" panose="020B0604020202020204"/>
              <a:buChar char="•"/>
            </a:pPr>
            <a:r>
              <a:rPr lang="en-US" sz="1690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Gestion complète catégories/thèmes</a:t>
            </a:r>
            <a:endParaRPr lang="en-US" sz="1690" spc="15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65125" lvl="1" indent="-182245" algn="just">
              <a:lnSpc>
                <a:spcPts val="2365"/>
              </a:lnSpc>
              <a:buFont typeface="Arial" panose="020B0604020202020204"/>
              <a:buChar char="•"/>
            </a:pPr>
            <a:r>
              <a:rPr lang="en-US" sz="1690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Supervision des quiz</a:t>
            </a:r>
            <a:endParaRPr lang="en-US" sz="1690" spc="15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65125" lvl="1" indent="-182245" algn="just">
              <a:lnSpc>
                <a:spcPts val="2365"/>
              </a:lnSpc>
              <a:buFont typeface="Arial" panose="020B0604020202020204"/>
              <a:buChar char="•"/>
            </a:pPr>
            <a:r>
              <a:rPr lang="en-US" sz="1690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Gestion des comptes</a:t>
            </a:r>
            <a:endParaRPr lang="en-US" sz="1690" spc="15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just">
              <a:lnSpc>
                <a:spcPts val="2365"/>
              </a:lnSpc>
            </a:pPr>
          </a:p>
        </p:txBody>
      </p:sp>
      <p:sp>
        <p:nvSpPr>
          <p:cNvPr id="22" name="TextBox 22"/>
          <p:cNvSpPr txBox="1"/>
          <p:nvPr/>
        </p:nvSpPr>
        <p:spPr>
          <a:xfrm>
            <a:off x="13416945" y="3353272"/>
            <a:ext cx="4871055" cy="1757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5"/>
              </a:lnSpc>
            </a:pPr>
          </a:p>
          <a:p>
            <a:pPr marL="365125" lvl="1" indent="-182245" algn="l">
              <a:lnSpc>
                <a:spcPts val="2365"/>
              </a:lnSpc>
              <a:buFont typeface="Arial" panose="020B0604020202020204"/>
              <a:buChar char="•"/>
            </a:pPr>
            <a:r>
              <a:rPr lang="en-US" sz="1690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Création de contenu (catégories, thèmes, quiz)</a:t>
            </a:r>
            <a:endParaRPr lang="en-US" sz="1690" spc="15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65125" lvl="1" indent="-182245" algn="l">
              <a:lnSpc>
                <a:spcPts val="2365"/>
              </a:lnSpc>
              <a:buFont typeface="Arial" panose="020B0604020202020204"/>
              <a:buChar char="•"/>
            </a:pPr>
            <a:r>
              <a:rPr lang="en-US" sz="1690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Passage de quiz interactifs</a:t>
            </a:r>
            <a:endParaRPr lang="en-US" sz="1690" spc="15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65125" lvl="1" indent="-182245" algn="l">
              <a:lnSpc>
                <a:spcPts val="2365"/>
              </a:lnSpc>
              <a:buFont typeface="Arial" panose="020B0604020202020204"/>
              <a:buChar char="•"/>
            </a:pPr>
            <a:r>
              <a:rPr lang="en-US" sz="1690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Consultation de l'historique et révision</a:t>
            </a:r>
            <a:endParaRPr lang="en-US" sz="1690" spc="15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365"/>
              </a:lnSpc>
            </a:pPr>
          </a:p>
        </p:txBody>
      </p:sp>
      <p:sp>
        <p:nvSpPr>
          <p:cNvPr id="23" name="TextBox 23"/>
          <p:cNvSpPr txBox="1"/>
          <p:nvPr/>
        </p:nvSpPr>
        <p:spPr>
          <a:xfrm>
            <a:off x="8566993" y="5724535"/>
            <a:ext cx="4473715" cy="289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325" lvl="1" indent="-220345" algn="l">
              <a:lnSpc>
                <a:spcPts val="2860"/>
              </a:lnSpc>
              <a:buFont typeface="Arial" panose="020B0604020202020204"/>
              <a:buChar char="•"/>
            </a:pPr>
            <a:r>
              <a:rPr lang="en-US" sz="2045" spc="18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Inscription et authentification</a:t>
            </a:r>
            <a:endParaRPr lang="en-US" sz="2045" spc="18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441325" lvl="1" indent="-220345" algn="l">
              <a:lnSpc>
                <a:spcPts val="2860"/>
              </a:lnSpc>
              <a:buFont typeface="Arial" panose="020B0604020202020204"/>
              <a:buChar char="•"/>
            </a:pPr>
            <a:r>
              <a:rPr lang="en-US" sz="2045" spc="18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Création de catégories et thèmaes personnalisés</a:t>
            </a:r>
            <a:endParaRPr lang="en-US" sz="2045" spc="18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441325" lvl="1" indent="-220345" algn="l">
              <a:lnSpc>
                <a:spcPts val="2860"/>
              </a:lnSpc>
              <a:buFont typeface="Arial" panose="020B0604020202020204"/>
              <a:buChar char="•"/>
            </a:pPr>
            <a:r>
              <a:rPr lang="en-US" sz="2045" spc="18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Création de quiz avec questions à choix multiples</a:t>
            </a:r>
            <a:endParaRPr lang="en-US" sz="2045" spc="18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441325" lvl="1" indent="-220345" algn="l">
              <a:lnSpc>
                <a:spcPts val="2860"/>
              </a:lnSpc>
              <a:buFont typeface="Arial" panose="020B0604020202020204"/>
              <a:buChar char="•"/>
            </a:pPr>
            <a:r>
              <a:rPr lang="en-US" sz="2045" spc="18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Passage de quiz et consultation des résultats</a:t>
            </a:r>
            <a:endParaRPr lang="en-US" sz="2045" spc="18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860"/>
              </a:lnSpc>
            </a:pPr>
          </a:p>
        </p:txBody>
      </p:sp>
      <p:sp>
        <p:nvSpPr>
          <p:cNvPr id="24" name="TextBox 24"/>
          <p:cNvSpPr txBox="1"/>
          <p:nvPr/>
        </p:nvSpPr>
        <p:spPr>
          <a:xfrm>
            <a:off x="13507433" y="5734060"/>
            <a:ext cx="4780567" cy="232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2750" lvl="1" indent="-206375" algn="l">
              <a:lnSpc>
                <a:spcPts val="2675"/>
              </a:lnSpc>
              <a:buFont typeface="Arial" panose="020B0604020202020204"/>
              <a:buChar char="•"/>
            </a:pPr>
            <a:r>
              <a:rPr lang="en-US" sz="1910" spc="17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✓ CRUD complet sur catégories et thèmes</a:t>
            </a:r>
            <a:endParaRPr lang="en-US" sz="1910" spc="17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412750" lvl="1" indent="-206375" algn="l">
              <a:lnSpc>
                <a:spcPts val="2675"/>
              </a:lnSpc>
              <a:buFont typeface="Arial" panose="020B0604020202020204"/>
              <a:buChar char="•"/>
            </a:pPr>
            <a:r>
              <a:rPr lang="en-US" sz="1910" spc="17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✓ Supervision globale de la plateforme</a:t>
            </a:r>
            <a:endParaRPr lang="en-US" sz="1910" spc="17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412750" lvl="1" indent="-206375" algn="l">
              <a:lnSpc>
                <a:spcPts val="2675"/>
              </a:lnSpc>
              <a:buFont typeface="Arial" panose="020B0604020202020204"/>
              <a:buChar char="•"/>
            </a:pPr>
            <a:r>
              <a:rPr lang="en-US" sz="1910" spc="17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✓ Gestion des utilisateurs et administrateurs</a:t>
            </a:r>
            <a:endParaRPr lang="en-US" sz="1910" spc="17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675"/>
              </a:lnSpc>
            </a:pPr>
          </a:p>
        </p:txBody>
      </p:sp>
      <p:sp>
        <p:nvSpPr>
          <p:cNvPr id="25" name="TextBox 25"/>
          <p:cNvSpPr txBox="1"/>
          <p:nvPr/>
        </p:nvSpPr>
        <p:spPr>
          <a:xfrm>
            <a:off x="10950857" y="1234931"/>
            <a:ext cx="854075" cy="616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0"/>
              </a:lnSpc>
            </a:pPr>
            <a:r>
              <a:rPr lang="en-US" sz="2950" b="1" spc="27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1</a:t>
            </a:r>
            <a:endParaRPr lang="en-US" sz="2950" b="1" spc="27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5004557" y="1234931"/>
            <a:ext cx="854075" cy="616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0"/>
              </a:lnSpc>
            </a:pPr>
            <a:r>
              <a:rPr lang="en-US" sz="2950" b="1" spc="27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2</a:t>
            </a:r>
            <a:endParaRPr lang="en-US" sz="2950" b="1" spc="27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971039" y="2665452"/>
            <a:ext cx="3750086" cy="33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</a:pPr>
            <a:r>
              <a:rPr lang="en-US" sz="2250" spc="-45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espace Administrateur :</a:t>
            </a:r>
            <a:endParaRPr lang="en-US" sz="2250" spc="-45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687378" y="2639077"/>
            <a:ext cx="3488432" cy="348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75"/>
              </a:lnSpc>
            </a:pPr>
            <a:r>
              <a:rPr lang="en-US" sz="2350" b="1" spc="-47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espace Utilisateur :</a:t>
            </a:r>
            <a:endParaRPr lang="en-US" sz="2350" b="1" spc="-47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566993" y="4938077"/>
            <a:ext cx="2888853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2250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Besoins fonctionnels</a:t>
            </a:r>
            <a:endParaRPr lang="en-US" sz="2200" b="1">
              <a:solidFill>
                <a:srgbClr val="002250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911178" y="3238488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15250465" y="2340113"/>
            <a:ext cx="743859" cy="743859"/>
          </a:xfrm>
          <a:custGeom>
            <a:avLst/>
            <a:gdLst/>
            <a:ahLst/>
            <a:cxnLst/>
            <a:rect l="l" t="t" r="r" b="b"/>
            <a:pathLst>
              <a:path w="743859" h="743859">
                <a:moveTo>
                  <a:pt x="0" y="0"/>
                </a:moveTo>
                <a:lnTo>
                  <a:pt x="743859" y="0"/>
                </a:lnTo>
                <a:lnTo>
                  <a:pt x="743859" y="743859"/>
                </a:lnTo>
                <a:lnTo>
                  <a:pt x="0" y="74385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641598" y="2198764"/>
            <a:ext cx="1078707" cy="1223090"/>
          </a:xfrm>
          <a:custGeom>
            <a:avLst/>
            <a:gdLst/>
            <a:ahLst/>
            <a:cxnLst/>
            <a:rect l="l" t="t" r="r" b="b"/>
            <a:pathLst>
              <a:path w="1078707" h="1223090">
                <a:moveTo>
                  <a:pt x="0" y="0"/>
                </a:moveTo>
                <a:lnTo>
                  <a:pt x="1078707" y="0"/>
                </a:lnTo>
                <a:lnTo>
                  <a:pt x="1078707" y="1223090"/>
                </a:lnTo>
                <a:lnTo>
                  <a:pt x="0" y="12230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0" y="0"/>
            <a:ext cx="6768300" cy="1312616"/>
            <a:chOff x="0" y="0"/>
            <a:chExt cx="1782597" cy="3457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CD8E81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6768300" y="0"/>
            <a:ext cx="11519700" cy="1312616"/>
            <a:chOff x="0" y="0"/>
            <a:chExt cx="1784703" cy="20335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84703" cy="203359"/>
            </a:xfrm>
            <a:custGeom>
              <a:avLst/>
              <a:gdLst/>
              <a:ahLst/>
              <a:cxnLst/>
              <a:rect l="l" t="t" r="r" b="b"/>
              <a:pathLst>
                <a:path w="1784703" h="203359">
                  <a:moveTo>
                    <a:pt x="0" y="0"/>
                  </a:moveTo>
                  <a:lnTo>
                    <a:pt x="1784703" y="0"/>
                  </a:lnTo>
                  <a:lnTo>
                    <a:pt x="1784703" y="203359"/>
                  </a:lnTo>
                  <a:lnTo>
                    <a:pt x="0" y="203359"/>
                  </a:lnTo>
                  <a:close/>
                </a:path>
              </a:pathLst>
            </a:custGeom>
            <a:blipFill>
              <a:blip r:embed="rId5"/>
              <a:stretch>
                <a:fillRect t="-607388" b="-607388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9231902" y="1454721"/>
            <a:ext cx="8976805" cy="8378352"/>
          </a:xfrm>
          <a:custGeom>
            <a:avLst/>
            <a:gdLst/>
            <a:ahLst/>
            <a:cxnLst/>
            <a:rect l="l" t="t" r="r" b="b"/>
            <a:pathLst>
              <a:path w="8976805" h="8378352">
                <a:moveTo>
                  <a:pt x="0" y="0"/>
                </a:moveTo>
                <a:lnTo>
                  <a:pt x="8976805" y="0"/>
                </a:lnTo>
                <a:lnTo>
                  <a:pt x="8976805" y="8378352"/>
                </a:lnTo>
                <a:lnTo>
                  <a:pt x="0" y="83783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5"/>
              </a:lnSpc>
            </a:pPr>
            <a:r>
              <a:rPr lang="en-US" sz="1310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6</a:t>
            </a:r>
            <a:endParaRPr lang="en-US" sz="1310" b="1" spc="12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spc="-77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3.</a:t>
            </a:r>
            <a:endParaRPr lang="en-US" sz="3900" spc="-77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871690" y="2560732"/>
            <a:ext cx="7232822" cy="52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30"/>
              </a:lnSpc>
            </a:pPr>
            <a:r>
              <a:rPr lang="en-US" sz="3500" b="1" spc="-70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Diagramme de cas d'utilisation</a:t>
            </a:r>
            <a:endParaRPr lang="en-US" sz="3500" b="1" spc="-70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45445" y="5225432"/>
            <a:ext cx="6408341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225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Cas d'utilisation principaux pour chaque acteur</a:t>
            </a:r>
            <a:endParaRPr lang="en-US" sz="2300">
              <a:solidFill>
                <a:srgbClr val="00225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225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Relations "include" pour l'authentification</a:t>
            </a:r>
            <a:endParaRPr lang="en-US" sz="2300">
              <a:solidFill>
                <a:srgbClr val="00225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911178" y="3238488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0" y="0"/>
            <a:ext cx="6768300" cy="1312616"/>
            <a:chOff x="0" y="0"/>
            <a:chExt cx="1782597" cy="3457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CD8E8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6768300" y="0"/>
            <a:ext cx="11519700" cy="1312616"/>
            <a:chOff x="0" y="0"/>
            <a:chExt cx="1784703" cy="2033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84703" cy="203359"/>
            </a:xfrm>
            <a:custGeom>
              <a:avLst/>
              <a:gdLst/>
              <a:ahLst/>
              <a:cxnLst/>
              <a:rect l="l" t="t" r="r" b="b"/>
              <a:pathLst>
                <a:path w="1784703" h="203359">
                  <a:moveTo>
                    <a:pt x="0" y="0"/>
                  </a:moveTo>
                  <a:lnTo>
                    <a:pt x="1784703" y="0"/>
                  </a:lnTo>
                  <a:lnTo>
                    <a:pt x="1784703" y="203359"/>
                  </a:lnTo>
                  <a:lnTo>
                    <a:pt x="0" y="203359"/>
                  </a:lnTo>
                  <a:close/>
                </a:path>
              </a:pathLst>
            </a:custGeom>
            <a:blipFill>
              <a:blip r:embed="rId1"/>
              <a:stretch>
                <a:fillRect t="-607388" b="-607388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93753" y="3693554"/>
            <a:ext cx="15200571" cy="5538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9630" lvl="1" indent="-424815" algn="just">
              <a:lnSpc>
                <a:spcPts val="5510"/>
              </a:lnSpc>
              <a:buFont typeface="Arial" panose="020B0604020202020204"/>
              <a:buChar char="•"/>
            </a:pPr>
            <a:r>
              <a:rPr lang="en-US" sz="3935">
                <a:solidFill>
                  <a:srgbClr val="00225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utilisateurs (authentification, rôles)</a:t>
            </a:r>
            <a:endParaRPr lang="en-US" sz="3935">
              <a:solidFill>
                <a:srgbClr val="00225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849630" lvl="1" indent="-424815" algn="just">
              <a:lnSpc>
                <a:spcPts val="5510"/>
              </a:lnSpc>
              <a:buFont typeface="Arial" panose="020B0604020202020204"/>
              <a:buChar char="•"/>
            </a:pPr>
            <a:r>
              <a:rPr lang="en-US" sz="3935">
                <a:solidFill>
                  <a:srgbClr val="00225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categories (domaines principaux)</a:t>
            </a:r>
            <a:endParaRPr lang="en-US" sz="3935">
              <a:solidFill>
                <a:srgbClr val="00225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849630" lvl="1" indent="-424815" algn="just">
              <a:lnSpc>
                <a:spcPts val="5510"/>
              </a:lnSpc>
              <a:buFont typeface="Arial" panose="020B0604020202020204"/>
              <a:buChar char="•"/>
            </a:pPr>
            <a:r>
              <a:rPr lang="en-US" sz="3935">
                <a:solidFill>
                  <a:srgbClr val="00225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themes (sous-catégories + difficulté)</a:t>
            </a:r>
            <a:endParaRPr lang="en-US" sz="3935">
              <a:solidFill>
                <a:srgbClr val="00225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849630" lvl="1" indent="-424815" algn="just">
              <a:lnSpc>
                <a:spcPts val="5510"/>
              </a:lnSpc>
              <a:buFont typeface="Arial" panose="020B0604020202020204"/>
              <a:buChar char="•"/>
            </a:pPr>
            <a:r>
              <a:rPr lang="en-US" sz="3935">
                <a:solidFill>
                  <a:srgbClr val="00225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quizzes (tests créés)</a:t>
            </a:r>
            <a:endParaRPr lang="en-US" sz="3935">
              <a:solidFill>
                <a:srgbClr val="00225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849630" lvl="1" indent="-424815" algn="just">
              <a:lnSpc>
                <a:spcPts val="5510"/>
              </a:lnSpc>
              <a:buFont typeface="Arial" panose="020B0604020202020204"/>
              <a:buChar char="•"/>
            </a:pPr>
            <a:r>
              <a:rPr lang="en-US" sz="3935">
                <a:solidFill>
                  <a:srgbClr val="00225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questions (contenu des quiz)</a:t>
            </a:r>
            <a:endParaRPr lang="en-US" sz="3935">
              <a:solidFill>
                <a:srgbClr val="00225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849630" lvl="1" indent="-424815" algn="just">
              <a:lnSpc>
                <a:spcPts val="5510"/>
              </a:lnSpc>
              <a:buFont typeface="Arial" panose="020B0604020202020204"/>
              <a:buChar char="•"/>
            </a:pPr>
            <a:r>
              <a:rPr lang="en-US" sz="3935">
                <a:solidFill>
                  <a:srgbClr val="00225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answers (propositions de réponses)</a:t>
            </a:r>
            <a:endParaRPr lang="en-US" sz="3935">
              <a:solidFill>
                <a:srgbClr val="00225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849630" lvl="1" indent="-424815" algn="just">
              <a:lnSpc>
                <a:spcPts val="5510"/>
              </a:lnSpc>
              <a:buFont typeface="Arial" panose="020B0604020202020204"/>
              <a:buChar char="•"/>
            </a:pPr>
            <a:r>
              <a:rPr lang="en-US" sz="3935">
                <a:solidFill>
                  <a:srgbClr val="00225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user_quiz_attempts (historique)</a:t>
            </a:r>
            <a:endParaRPr lang="en-US" sz="3935">
              <a:solidFill>
                <a:srgbClr val="00225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849630" lvl="1" indent="-424815" algn="just">
              <a:lnSpc>
                <a:spcPts val="5510"/>
              </a:lnSpc>
              <a:buFont typeface="Arial" panose="020B0604020202020204"/>
              <a:buChar char="•"/>
            </a:pPr>
            <a:r>
              <a:rPr lang="en-US" sz="3935">
                <a:solidFill>
                  <a:srgbClr val="00225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user_answers (détail des réponses)</a:t>
            </a:r>
            <a:endParaRPr lang="en-US" sz="3935">
              <a:solidFill>
                <a:srgbClr val="00225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0750066" y="2744680"/>
            <a:ext cx="10488516" cy="6513620"/>
          </a:xfrm>
          <a:custGeom>
            <a:avLst/>
            <a:gdLst/>
            <a:ahLst/>
            <a:cxnLst/>
            <a:rect l="l" t="t" r="r" b="b"/>
            <a:pathLst>
              <a:path w="10488516" h="6513620">
                <a:moveTo>
                  <a:pt x="0" y="0"/>
                </a:moveTo>
                <a:lnTo>
                  <a:pt x="10488516" y="0"/>
                </a:lnTo>
                <a:lnTo>
                  <a:pt x="10488516" y="6513620"/>
                </a:lnTo>
                <a:lnTo>
                  <a:pt x="0" y="6513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72" r="-135676" b="-972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5"/>
              </a:lnSpc>
            </a:pPr>
            <a:r>
              <a:rPr lang="en-US" sz="1310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6</a:t>
            </a:r>
            <a:endParaRPr lang="en-US" sz="1310" b="1" spc="12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spc="-77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4.</a:t>
            </a:r>
            <a:endParaRPr lang="en-US" sz="3900" spc="-77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871690" y="2198764"/>
            <a:ext cx="11037134" cy="157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0"/>
              </a:lnSpc>
            </a:pPr>
            <a:r>
              <a:rPr lang="en-US" sz="3500" b="1" spc="-70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Architecture de la base de données</a:t>
            </a:r>
            <a:endParaRPr lang="en-US" sz="3500" b="1" spc="-70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4130"/>
              </a:lnSpc>
            </a:pPr>
            <a:r>
              <a:rPr lang="en-US" sz="3500" b="1" spc="-70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8 tables principales :</a:t>
            </a:r>
            <a:endParaRPr lang="en-US" sz="3500" b="1" spc="-70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0" lvl="0" indent="0" algn="l">
              <a:lnSpc>
                <a:spcPts val="413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911178" y="3238488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AutoShape 5"/>
          <p:cNvSpPr/>
          <p:nvPr/>
        </p:nvSpPr>
        <p:spPr>
          <a:xfrm>
            <a:off x="8970173" y="6183378"/>
            <a:ext cx="8594179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13193928" y="3655390"/>
            <a:ext cx="0" cy="5248733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 rot="0">
            <a:off x="12913436" y="5902885"/>
            <a:ext cx="560985" cy="56098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2821999" y="5811449"/>
            <a:ext cx="743859" cy="743859"/>
          </a:xfrm>
          <a:custGeom>
            <a:avLst/>
            <a:gdLst/>
            <a:ahLst/>
            <a:cxnLst/>
            <a:rect l="l" t="t" r="r" b="b"/>
            <a:pathLst>
              <a:path w="743859" h="743859">
                <a:moveTo>
                  <a:pt x="0" y="0"/>
                </a:moveTo>
                <a:lnTo>
                  <a:pt x="743859" y="0"/>
                </a:lnTo>
                <a:lnTo>
                  <a:pt x="743859" y="743859"/>
                </a:lnTo>
                <a:lnTo>
                  <a:pt x="0" y="74385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641598" y="2198764"/>
            <a:ext cx="1078707" cy="1223090"/>
          </a:xfrm>
          <a:custGeom>
            <a:avLst/>
            <a:gdLst/>
            <a:ahLst/>
            <a:cxnLst/>
            <a:rect l="l" t="t" r="r" b="b"/>
            <a:pathLst>
              <a:path w="1078707" h="1223090">
                <a:moveTo>
                  <a:pt x="0" y="0"/>
                </a:moveTo>
                <a:lnTo>
                  <a:pt x="1078707" y="0"/>
                </a:lnTo>
                <a:lnTo>
                  <a:pt x="1078707" y="1223090"/>
                </a:lnTo>
                <a:lnTo>
                  <a:pt x="0" y="12230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 rot="0">
            <a:off x="0" y="0"/>
            <a:ext cx="6768300" cy="1312616"/>
            <a:chOff x="0" y="0"/>
            <a:chExt cx="1782597" cy="3457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CD8E8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1871690" y="3836478"/>
            <a:ext cx="4896609" cy="5149398"/>
          </a:xfrm>
          <a:custGeom>
            <a:avLst/>
            <a:gdLst/>
            <a:ahLst/>
            <a:cxnLst/>
            <a:rect l="l" t="t" r="r" b="b"/>
            <a:pathLst>
              <a:path w="4896609" h="5149398">
                <a:moveTo>
                  <a:pt x="0" y="0"/>
                </a:moveTo>
                <a:lnTo>
                  <a:pt x="4896610" y="0"/>
                </a:lnTo>
                <a:lnTo>
                  <a:pt x="4896610" y="5149398"/>
                </a:lnTo>
                <a:lnTo>
                  <a:pt x="0" y="5149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6768300" y="0"/>
            <a:ext cx="11519700" cy="1312616"/>
            <a:chOff x="0" y="0"/>
            <a:chExt cx="1784703" cy="20335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84703" cy="203359"/>
            </a:xfrm>
            <a:custGeom>
              <a:avLst/>
              <a:gdLst/>
              <a:ahLst/>
              <a:cxnLst/>
              <a:rect l="l" t="t" r="r" b="b"/>
              <a:pathLst>
                <a:path w="1784703" h="203359">
                  <a:moveTo>
                    <a:pt x="0" y="0"/>
                  </a:moveTo>
                  <a:lnTo>
                    <a:pt x="1784703" y="0"/>
                  </a:lnTo>
                  <a:lnTo>
                    <a:pt x="1784703" y="203359"/>
                  </a:lnTo>
                  <a:lnTo>
                    <a:pt x="0" y="203359"/>
                  </a:lnTo>
                  <a:close/>
                </a:path>
              </a:pathLst>
            </a:custGeom>
            <a:blipFill>
              <a:blip r:embed="rId7"/>
              <a:stretch>
                <a:fillRect t="-607388" b="-607388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5"/>
              </a:lnSpc>
            </a:pPr>
            <a:r>
              <a:rPr lang="en-US" sz="1310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6</a:t>
            </a:r>
            <a:endParaRPr lang="en-US" sz="1310" b="1" spc="12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spc="-77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5.</a:t>
            </a:r>
            <a:endParaRPr lang="en-US" sz="3900" spc="-77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911178" y="2502566"/>
            <a:ext cx="6539708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b="1" spc="-77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 Technologies utilisées</a:t>
            </a:r>
            <a:endParaRPr lang="en-US" sz="3900" b="1" spc="-77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073651" y="4053065"/>
            <a:ext cx="5057288" cy="175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30"/>
              </a:lnSpc>
            </a:pPr>
          </a:p>
          <a:p>
            <a:pPr marL="436880" lvl="1" indent="-218440" algn="just">
              <a:lnSpc>
                <a:spcPts val="2830"/>
              </a:lnSpc>
              <a:buFont typeface="Arial" panose="020B0604020202020204"/>
              <a:buChar char="•"/>
            </a:pPr>
            <a:r>
              <a:rPr lang="en-US" sz="2020" b="1" spc="18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La</a:t>
            </a:r>
            <a:r>
              <a:rPr lang="en-US" sz="2020" b="1" spc="18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ragon (serveur local tout-en-un)</a:t>
            </a:r>
            <a:endParaRPr lang="en-US" sz="2020" b="1" spc="18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436880" lvl="1" indent="-218440" algn="just">
              <a:lnSpc>
                <a:spcPts val="2830"/>
              </a:lnSpc>
              <a:buFont typeface="Arial" panose="020B0604020202020204"/>
              <a:buChar char="•"/>
            </a:pPr>
            <a:r>
              <a:rPr lang="en-US" sz="2020" b="1" spc="18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Visual Studio Code</a:t>
            </a:r>
            <a:endParaRPr lang="en-US" sz="2020" b="1" spc="18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436880" lvl="1" indent="-218440" algn="just">
              <a:lnSpc>
                <a:spcPts val="2830"/>
              </a:lnSpc>
              <a:buFont typeface="Arial" panose="020B0604020202020204"/>
              <a:buChar char="•"/>
            </a:pPr>
            <a:r>
              <a:rPr lang="en-US" sz="2020" b="1" spc="18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Git / GitHub</a:t>
            </a:r>
            <a:endParaRPr lang="en-US" sz="2020" b="1" spc="18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just">
              <a:lnSpc>
                <a:spcPts val="2830"/>
              </a:lnSpc>
            </a:pPr>
          </a:p>
        </p:txBody>
      </p:sp>
      <p:sp>
        <p:nvSpPr>
          <p:cNvPr id="22" name="TextBox 22"/>
          <p:cNvSpPr txBox="1"/>
          <p:nvPr/>
        </p:nvSpPr>
        <p:spPr>
          <a:xfrm>
            <a:off x="13565858" y="4572305"/>
            <a:ext cx="3774306" cy="871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5125" lvl="1" indent="-182245" algn="l">
              <a:lnSpc>
                <a:spcPts val="2365"/>
              </a:lnSpc>
              <a:buFont typeface="Arial" panose="020B0604020202020204"/>
              <a:buChar char="•"/>
            </a:pPr>
            <a:r>
              <a:rPr lang="en-US" sz="1690" b="1" spc="15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HTML5 / CSS3</a:t>
            </a:r>
            <a:endParaRPr lang="en-US" sz="1690" b="1" spc="15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365125" lvl="1" indent="-182245" algn="l">
              <a:lnSpc>
                <a:spcPts val="2365"/>
              </a:lnSpc>
              <a:buFont typeface="Arial" panose="020B0604020202020204"/>
              <a:buChar char="•"/>
            </a:pPr>
            <a:r>
              <a:rPr lang="en-US" sz="1690" b="1" spc="15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J</a:t>
            </a:r>
            <a:r>
              <a:rPr lang="en-US" sz="1690" b="1" spc="15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avaScript (ajout dynamique)</a:t>
            </a:r>
            <a:endParaRPr lang="en-US" sz="1690" b="1" spc="15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2365"/>
              </a:lnSpc>
            </a:pPr>
          </a:p>
        </p:txBody>
      </p:sp>
      <p:sp>
        <p:nvSpPr>
          <p:cNvPr id="23" name="TextBox 23"/>
          <p:cNvSpPr txBox="1"/>
          <p:nvPr/>
        </p:nvSpPr>
        <p:spPr>
          <a:xfrm>
            <a:off x="8249602" y="7590289"/>
            <a:ext cx="4944326" cy="1276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1945" lvl="1" indent="-160655" algn="l">
              <a:lnSpc>
                <a:spcPts val="2085"/>
              </a:lnSpc>
              <a:buFont typeface="Arial" panose="020B0604020202020204"/>
              <a:buChar char="•"/>
            </a:pPr>
            <a:r>
              <a:rPr lang="en-US" sz="1490" b="1" spc="13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Framework MVC léger et performant</a:t>
            </a:r>
            <a:endParaRPr lang="en-US" sz="1490" b="1" spc="13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321945" lvl="1" indent="-160655" algn="l">
              <a:lnSpc>
                <a:spcPts val="2085"/>
              </a:lnSpc>
              <a:buFont typeface="Arial" panose="020B0604020202020204"/>
              <a:buChar char="•"/>
            </a:pPr>
            <a:r>
              <a:rPr lang="en-US" sz="1490" b="1" spc="13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Sécurité intégrée (CSRF, XSS, SQL injection)</a:t>
            </a:r>
            <a:endParaRPr lang="en-US" sz="1490" b="1" spc="13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321945" lvl="1" indent="-160655" algn="l">
              <a:lnSpc>
                <a:spcPts val="2085"/>
              </a:lnSpc>
              <a:buFont typeface="Arial" panose="020B0604020202020204"/>
              <a:buChar char="•"/>
            </a:pPr>
            <a:r>
              <a:rPr lang="en-US" sz="1490" b="1" spc="13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Query Builder puissant</a:t>
            </a:r>
            <a:endParaRPr lang="en-US" sz="1490" b="1" spc="13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321945" lvl="1" indent="-160655" algn="l">
              <a:lnSpc>
                <a:spcPts val="2085"/>
              </a:lnSpc>
              <a:buFont typeface="Arial" panose="020B0604020202020204"/>
              <a:buChar char="•"/>
            </a:pPr>
            <a:r>
              <a:rPr lang="en-US" sz="1490" b="1" spc="13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Migrations et Seeders</a:t>
            </a:r>
            <a:endParaRPr lang="en-US" sz="1490" b="1" spc="13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2085"/>
              </a:lnSpc>
            </a:pPr>
          </a:p>
        </p:txBody>
      </p:sp>
      <p:sp>
        <p:nvSpPr>
          <p:cNvPr id="24" name="TextBox 24"/>
          <p:cNvSpPr txBox="1"/>
          <p:nvPr/>
        </p:nvSpPr>
        <p:spPr>
          <a:xfrm>
            <a:off x="13193928" y="7590289"/>
            <a:ext cx="4265686" cy="1166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5125" lvl="1" indent="-182245" algn="l">
              <a:lnSpc>
                <a:spcPts val="2365"/>
              </a:lnSpc>
              <a:buFont typeface="Arial" panose="020B0604020202020204"/>
              <a:buChar char="•"/>
            </a:pPr>
            <a:r>
              <a:rPr lang="en-US" sz="1690" b="1" spc="15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Langage côté serveur</a:t>
            </a:r>
            <a:endParaRPr lang="en-US" sz="1690" b="1" spc="15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365125" lvl="1" indent="-182245" algn="l">
              <a:lnSpc>
                <a:spcPts val="2365"/>
              </a:lnSpc>
              <a:buFont typeface="Arial" panose="020B0604020202020204"/>
              <a:buChar char="•"/>
            </a:pPr>
            <a:r>
              <a:rPr lang="en-US" sz="1690" b="1" spc="15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Typage fort, performances optimisées</a:t>
            </a:r>
            <a:endParaRPr lang="en-US" sz="1690" b="1" spc="15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2365"/>
              </a:lnSpc>
            </a:pPr>
          </a:p>
        </p:txBody>
      </p:sp>
      <p:sp>
        <p:nvSpPr>
          <p:cNvPr id="25" name="TextBox 25"/>
          <p:cNvSpPr txBox="1"/>
          <p:nvPr/>
        </p:nvSpPr>
        <p:spPr>
          <a:xfrm>
            <a:off x="8450886" y="3386789"/>
            <a:ext cx="4507046" cy="86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5"/>
              </a:lnSpc>
            </a:pPr>
          </a:p>
          <a:p>
            <a:pPr algn="ctr">
              <a:lnSpc>
                <a:spcPts val="2305"/>
              </a:lnSpc>
            </a:pPr>
            <a:r>
              <a:rPr lang="en-US" sz="1950" spc="-39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Environnement de développement :</a:t>
            </a:r>
            <a:endParaRPr lang="en-US" sz="1950" spc="-39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ctr">
              <a:lnSpc>
                <a:spcPts val="2305"/>
              </a:lnSpc>
            </a:pPr>
          </a:p>
        </p:txBody>
      </p:sp>
      <p:sp>
        <p:nvSpPr>
          <p:cNvPr id="26" name="TextBox 26"/>
          <p:cNvSpPr txBox="1"/>
          <p:nvPr/>
        </p:nvSpPr>
        <p:spPr>
          <a:xfrm>
            <a:off x="9213258" y="6943448"/>
            <a:ext cx="2881204" cy="26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5"/>
              </a:lnSpc>
            </a:pPr>
            <a:r>
              <a:rPr lang="en-US" sz="1850" spc="-37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codeIgniter 4</a:t>
            </a:r>
            <a:endParaRPr lang="en-US" sz="1850" spc="-37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4195371" y="3738178"/>
            <a:ext cx="2881204" cy="310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0"/>
              </a:lnSpc>
            </a:pPr>
            <a:r>
              <a:rPr lang="en-US" sz="2050" spc="-41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frontend</a:t>
            </a:r>
            <a:endParaRPr lang="en-US" sz="2050" spc="-41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4245140" y="6956344"/>
            <a:ext cx="2881204" cy="26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5"/>
              </a:lnSpc>
            </a:pPr>
            <a:r>
              <a:rPr lang="en-US" sz="1850" spc="-37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PHP7.4+</a:t>
            </a:r>
            <a:endParaRPr lang="en-US" sz="1850" spc="-37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911178" y="2658270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1947020" y="1194282"/>
            <a:ext cx="0" cy="2116120"/>
          </a:xfrm>
          <a:prstGeom prst="line">
            <a:avLst/>
          </a:prstGeom>
          <a:ln w="9525" cap="flat">
            <a:solidFill>
              <a:srgbClr val="F7E7D7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0">
            <a:off x="0" y="0"/>
            <a:ext cx="6768300" cy="1312616"/>
            <a:chOff x="0" y="0"/>
            <a:chExt cx="1782597" cy="3457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6768300" y="0"/>
            <a:ext cx="11519700" cy="1312616"/>
            <a:chOff x="0" y="0"/>
            <a:chExt cx="1784703" cy="2033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84703" cy="203359"/>
            </a:xfrm>
            <a:custGeom>
              <a:avLst/>
              <a:gdLst/>
              <a:ahLst/>
              <a:cxnLst/>
              <a:rect l="l" t="t" r="r" b="b"/>
              <a:pathLst>
                <a:path w="1784703" h="203359">
                  <a:moveTo>
                    <a:pt x="0" y="0"/>
                  </a:moveTo>
                  <a:lnTo>
                    <a:pt x="1784703" y="0"/>
                  </a:lnTo>
                  <a:lnTo>
                    <a:pt x="1784703" y="203359"/>
                  </a:lnTo>
                  <a:lnTo>
                    <a:pt x="0" y="203359"/>
                  </a:lnTo>
                  <a:close/>
                </a:path>
              </a:pathLst>
            </a:custGeom>
            <a:blipFill>
              <a:blip r:embed="rId1"/>
              <a:stretch>
                <a:fillRect t="-242537" b="-242537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0" y="4187626"/>
            <a:ext cx="8837231" cy="4457718"/>
          </a:xfrm>
          <a:custGeom>
            <a:avLst/>
            <a:gdLst/>
            <a:ahLst/>
            <a:cxnLst/>
            <a:rect l="l" t="t" r="r" b="b"/>
            <a:pathLst>
              <a:path w="8837231" h="4457718">
                <a:moveTo>
                  <a:pt x="0" y="0"/>
                </a:moveTo>
                <a:lnTo>
                  <a:pt x="8837231" y="0"/>
                </a:lnTo>
                <a:lnTo>
                  <a:pt x="8837231" y="4457718"/>
                </a:lnTo>
                <a:lnTo>
                  <a:pt x="0" y="44577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806472" y="5143500"/>
            <a:ext cx="10481528" cy="5287143"/>
          </a:xfrm>
          <a:custGeom>
            <a:avLst/>
            <a:gdLst/>
            <a:ahLst/>
            <a:cxnLst/>
            <a:rect l="l" t="t" r="r" b="b"/>
            <a:pathLst>
              <a:path w="10481528" h="5287143">
                <a:moveTo>
                  <a:pt x="0" y="0"/>
                </a:moveTo>
                <a:lnTo>
                  <a:pt x="10481528" y="0"/>
                </a:lnTo>
                <a:lnTo>
                  <a:pt x="10481528" y="5287143"/>
                </a:lnTo>
                <a:lnTo>
                  <a:pt x="0" y="5287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5"/>
              </a:lnSpc>
            </a:pPr>
            <a:r>
              <a:rPr lang="en-US" sz="1310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5</a:t>
            </a:r>
            <a:endParaRPr lang="en-US" sz="1310" b="1" spc="12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spc="-77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6.</a:t>
            </a:r>
            <a:endParaRPr lang="en-US" sz="3900" spc="-77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911178" y="1533347"/>
            <a:ext cx="4007444" cy="97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5"/>
              </a:lnSpc>
            </a:pPr>
            <a:r>
              <a:rPr lang="en-US" sz="3300" b="1" spc="-66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M</a:t>
            </a:r>
            <a:r>
              <a:rPr lang="en-US" sz="3300" b="1" spc="-66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odule Authentification</a:t>
            </a:r>
            <a:endParaRPr lang="en-US" sz="3300" b="1" spc="-66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233100" y="1592874"/>
            <a:ext cx="10408799" cy="1928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Inscription avec validation (email unique)</a:t>
            </a:r>
            <a:endParaRPr lang="en-US" sz="1610" b="1" spc="14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Connexion sécurisée (hashage bcrypt)</a:t>
            </a:r>
            <a:endParaRPr lang="en-US" sz="1610" b="1" spc="14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Ge</a:t>
            </a: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stion de sessions CodeIgniter</a:t>
            </a:r>
            <a:endParaRPr lang="en-US" sz="1610" b="1" spc="14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Middleware (AuthFilter, AdminFilter)</a:t>
            </a:r>
            <a:endParaRPr lang="en-US" sz="1610" b="1" spc="14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C</a:t>
            </a: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ontrôle d'accès selon les rôles</a:t>
            </a:r>
            <a:endParaRPr lang="en-US" sz="1610" b="1" spc="14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911178" y="2658270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1947020" y="1194282"/>
            <a:ext cx="0" cy="2116120"/>
          </a:xfrm>
          <a:prstGeom prst="line">
            <a:avLst/>
          </a:prstGeom>
          <a:ln w="9525" cap="flat">
            <a:solidFill>
              <a:srgbClr val="F7E7D7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0">
            <a:off x="0" y="0"/>
            <a:ext cx="6768300" cy="1312616"/>
            <a:chOff x="0" y="0"/>
            <a:chExt cx="1782597" cy="3457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6768300" y="0"/>
            <a:ext cx="11519700" cy="1312616"/>
            <a:chOff x="0" y="0"/>
            <a:chExt cx="1784703" cy="2033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84703" cy="203359"/>
            </a:xfrm>
            <a:custGeom>
              <a:avLst/>
              <a:gdLst/>
              <a:ahLst/>
              <a:cxnLst/>
              <a:rect l="l" t="t" r="r" b="b"/>
              <a:pathLst>
                <a:path w="1784703" h="203359">
                  <a:moveTo>
                    <a:pt x="0" y="0"/>
                  </a:moveTo>
                  <a:lnTo>
                    <a:pt x="1784703" y="0"/>
                  </a:lnTo>
                  <a:lnTo>
                    <a:pt x="1784703" y="203359"/>
                  </a:lnTo>
                  <a:lnTo>
                    <a:pt x="0" y="203359"/>
                  </a:lnTo>
                  <a:close/>
                </a:path>
              </a:pathLst>
            </a:custGeom>
            <a:blipFill>
              <a:blip r:embed="rId1"/>
              <a:stretch>
                <a:fillRect t="-242537" b="-242537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408266" y="4054276"/>
            <a:ext cx="7013269" cy="3506635"/>
          </a:xfrm>
          <a:custGeom>
            <a:avLst/>
            <a:gdLst/>
            <a:ahLst/>
            <a:cxnLst/>
            <a:rect l="l" t="t" r="r" b="b"/>
            <a:pathLst>
              <a:path w="7013269" h="3506635">
                <a:moveTo>
                  <a:pt x="0" y="0"/>
                </a:moveTo>
                <a:lnTo>
                  <a:pt x="7013269" y="0"/>
                </a:lnTo>
                <a:lnTo>
                  <a:pt x="7013269" y="3506634"/>
                </a:lnTo>
                <a:lnTo>
                  <a:pt x="0" y="350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162687" y="4054276"/>
            <a:ext cx="6814839" cy="3439626"/>
          </a:xfrm>
          <a:custGeom>
            <a:avLst/>
            <a:gdLst/>
            <a:ahLst/>
            <a:cxnLst/>
            <a:rect l="l" t="t" r="r" b="b"/>
            <a:pathLst>
              <a:path w="6814839" h="3439626">
                <a:moveTo>
                  <a:pt x="0" y="0"/>
                </a:moveTo>
                <a:lnTo>
                  <a:pt x="6814839" y="0"/>
                </a:lnTo>
                <a:lnTo>
                  <a:pt x="6814839" y="3439625"/>
                </a:lnTo>
                <a:lnTo>
                  <a:pt x="0" y="3439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232226" y="6489785"/>
            <a:ext cx="7518486" cy="3797215"/>
          </a:xfrm>
          <a:custGeom>
            <a:avLst/>
            <a:gdLst/>
            <a:ahLst/>
            <a:cxnLst/>
            <a:rect l="l" t="t" r="r" b="b"/>
            <a:pathLst>
              <a:path w="7518486" h="3797215">
                <a:moveTo>
                  <a:pt x="0" y="0"/>
                </a:moveTo>
                <a:lnTo>
                  <a:pt x="7518486" y="0"/>
                </a:lnTo>
                <a:lnTo>
                  <a:pt x="7518486" y="3797215"/>
                </a:lnTo>
                <a:lnTo>
                  <a:pt x="0" y="37972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5"/>
              </a:lnSpc>
            </a:pPr>
            <a:r>
              <a:rPr lang="en-US" sz="1310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5</a:t>
            </a:r>
            <a:endParaRPr lang="en-US" sz="1310" b="1" spc="12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spc="-77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7.</a:t>
            </a:r>
            <a:endParaRPr lang="en-US" sz="3900" spc="-77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911178" y="1533347"/>
            <a:ext cx="4007444" cy="97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5"/>
              </a:lnSpc>
            </a:pPr>
            <a:r>
              <a:rPr lang="en-US" sz="3300" b="1" spc="-66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 </a:t>
            </a:r>
            <a:r>
              <a:rPr lang="en-US" sz="3300" b="1" spc="-66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M</a:t>
            </a:r>
            <a:r>
              <a:rPr lang="en-US" sz="3300" b="1" spc="-66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odule Administrateur</a:t>
            </a:r>
            <a:endParaRPr lang="en-US" sz="3300" b="1" spc="-66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233100" y="1592874"/>
            <a:ext cx="10408799" cy="2251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Fonctionnalités :</a:t>
            </a:r>
            <a:endParaRPr lang="en-US" sz="1610" b="1" spc="14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CRUD catégories (slug auto, icône, couleur)</a:t>
            </a:r>
            <a:endParaRPr lang="en-US" sz="1610" spc="1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CRUD thèmes (niveau de difficulté)</a:t>
            </a:r>
            <a:endParaRPr lang="en-US" sz="1610" spc="1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Activation/désactivation sans suppression</a:t>
            </a:r>
            <a:endParaRPr lang="en-US" sz="1610" spc="1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Supervision de tous les quiz</a:t>
            </a:r>
            <a:endParaRPr lang="en-US" sz="1610" spc="1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spc="1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Gestion des comptes admin</a:t>
            </a:r>
            <a:endParaRPr lang="en-US" sz="1610" spc="14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Dashboard avec statistiques</a:t>
            </a:r>
            <a:endParaRPr lang="en-US" sz="1610" spc="15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911178" y="2658270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1947020" y="1194282"/>
            <a:ext cx="0" cy="2116120"/>
          </a:xfrm>
          <a:prstGeom prst="line">
            <a:avLst/>
          </a:prstGeom>
          <a:ln w="9525" cap="flat">
            <a:solidFill>
              <a:srgbClr val="F7E7D7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0">
            <a:off x="0" y="0"/>
            <a:ext cx="6768300" cy="1312616"/>
            <a:chOff x="0" y="0"/>
            <a:chExt cx="1782597" cy="3457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6768300" y="0"/>
            <a:ext cx="11519700" cy="1312616"/>
            <a:chOff x="0" y="0"/>
            <a:chExt cx="1784703" cy="2033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84703" cy="203359"/>
            </a:xfrm>
            <a:custGeom>
              <a:avLst/>
              <a:gdLst/>
              <a:ahLst/>
              <a:cxnLst/>
              <a:rect l="l" t="t" r="r" b="b"/>
              <a:pathLst>
                <a:path w="1784703" h="203359">
                  <a:moveTo>
                    <a:pt x="0" y="0"/>
                  </a:moveTo>
                  <a:lnTo>
                    <a:pt x="1784703" y="0"/>
                  </a:lnTo>
                  <a:lnTo>
                    <a:pt x="1784703" y="203359"/>
                  </a:lnTo>
                  <a:lnTo>
                    <a:pt x="0" y="203359"/>
                  </a:lnTo>
                  <a:close/>
                </a:path>
              </a:pathLst>
            </a:custGeom>
            <a:blipFill>
              <a:blip r:embed="rId1"/>
              <a:stretch>
                <a:fillRect t="-242537" b="-242537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60120" y="3997126"/>
            <a:ext cx="6448059" cy="3414926"/>
          </a:xfrm>
          <a:custGeom>
            <a:avLst/>
            <a:gdLst/>
            <a:ahLst/>
            <a:cxnLst/>
            <a:rect l="l" t="t" r="r" b="b"/>
            <a:pathLst>
              <a:path w="6448059" h="3414926">
                <a:moveTo>
                  <a:pt x="0" y="0"/>
                </a:moveTo>
                <a:lnTo>
                  <a:pt x="6448059" y="0"/>
                </a:lnTo>
                <a:lnTo>
                  <a:pt x="6448059" y="3414926"/>
                </a:lnTo>
                <a:lnTo>
                  <a:pt x="0" y="3414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542868" y="3844726"/>
            <a:ext cx="5745132" cy="3567326"/>
          </a:xfrm>
          <a:custGeom>
            <a:avLst/>
            <a:gdLst/>
            <a:ahLst/>
            <a:cxnLst/>
            <a:rect l="l" t="t" r="r" b="b"/>
            <a:pathLst>
              <a:path w="5745132" h="3567326">
                <a:moveTo>
                  <a:pt x="0" y="0"/>
                </a:moveTo>
                <a:lnTo>
                  <a:pt x="5745132" y="0"/>
                </a:lnTo>
                <a:lnTo>
                  <a:pt x="5745132" y="3567326"/>
                </a:lnTo>
                <a:lnTo>
                  <a:pt x="0" y="3567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608179" y="4111938"/>
            <a:ext cx="5919970" cy="3300114"/>
          </a:xfrm>
          <a:custGeom>
            <a:avLst/>
            <a:gdLst/>
            <a:ahLst/>
            <a:cxnLst/>
            <a:rect l="l" t="t" r="r" b="b"/>
            <a:pathLst>
              <a:path w="5919970" h="3300114">
                <a:moveTo>
                  <a:pt x="0" y="0"/>
                </a:moveTo>
                <a:lnTo>
                  <a:pt x="5919971" y="0"/>
                </a:lnTo>
                <a:lnTo>
                  <a:pt x="5919971" y="3300114"/>
                </a:lnTo>
                <a:lnTo>
                  <a:pt x="0" y="3300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84" r="-5084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087950" y="6294702"/>
            <a:ext cx="7171350" cy="3992298"/>
          </a:xfrm>
          <a:custGeom>
            <a:avLst/>
            <a:gdLst/>
            <a:ahLst/>
            <a:cxnLst/>
            <a:rect l="l" t="t" r="r" b="b"/>
            <a:pathLst>
              <a:path w="7171350" h="3992298">
                <a:moveTo>
                  <a:pt x="0" y="0"/>
                </a:moveTo>
                <a:lnTo>
                  <a:pt x="7171350" y="0"/>
                </a:lnTo>
                <a:lnTo>
                  <a:pt x="7171350" y="3992298"/>
                </a:lnTo>
                <a:lnTo>
                  <a:pt x="0" y="39922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45445" y="6294702"/>
            <a:ext cx="7757475" cy="5132172"/>
          </a:xfrm>
          <a:custGeom>
            <a:avLst/>
            <a:gdLst/>
            <a:ahLst/>
            <a:cxnLst/>
            <a:rect l="l" t="t" r="r" b="b"/>
            <a:pathLst>
              <a:path w="7757475" h="5132172">
                <a:moveTo>
                  <a:pt x="0" y="0"/>
                </a:moveTo>
                <a:lnTo>
                  <a:pt x="7757475" y="0"/>
                </a:lnTo>
                <a:lnTo>
                  <a:pt x="7757475" y="5132172"/>
                </a:lnTo>
                <a:lnTo>
                  <a:pt x="0" y="51321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5"/>
              </a:lnSpc>
            </a:pPr>
            <a:r>
              <a:rPr lang="en-US" sz="1310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5</a:t>
            </a:r>
            <a:endParaRPr lang="en-US" sz="1310" b="1" spc="12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00125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spc="-77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7.</a:t>
            </a:r>
            <a:endParaRPr lang="en-US" sz="3900" spc="-77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604990" y="2019122"/>
            <a:ext cx="4007444" cy="484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5"/>
              </a:lnSpc>
            </a:pPr>
            <a:r>
              <a:rPr lang="en-US" sz="3300" b="1" spc="-66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M</a:t>
            </a:r>
            <a:r>
              <a:rPr lang="en-US" sz="3300" b="1" spc="-66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odule Utilisateur</a:t>
            </a:r>
            <a:endParaRPr lang="en-US" sz="3300" b="1" spc="-66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918623" y="1245941"/>
            <a:ext cx="6307718" cy="2899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 Création</a:t>
            </a:r>
            <a:endParaRPr lang="en-US" sz="1610" b="1" spc="14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Création de contenu :</a:t>
            </a:r>
            <a:endParaRPr lang="en-US" sz="1610" b="1" spc="14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Catégories personnalisées</a:t>
            </a:r>
            <a:endParaRPr lang="en-US" sz="1610" b="1" spc="14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T</a:t>
            </a: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hèmes avec niveau de difficulté</a:t>
            </a:r>
            <a:endParaRPr lang="en-US" sz="1610" b="1" spc="14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Qu</a:t>
            </a: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iz avec titre et description</a:t>
            </a:r>
            <a:endParaRPr lang="en-US" sz="1610" b="1" spc="14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Q</a:t>
            </a: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uestions à choix multiples</a:t>
            </a:r>
            <a:endParaRPr lang="en-US" sz="1610" b="1" spc="14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Ajout dynamique (JavaScript)</a:t>
            </a:r>
            <a:endParaRPr lang="en-US" sz="1610" b="1" spc="14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  <a:r>
              <a:rPr lang="en-US" sz="1610" b="1" spc="14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Système de publication</a:t>
            </a:r>
            <a:endParaRPr lang="en-US" sz="1610" b="1" spc="14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347345" lvl="1" indent="-173990" algn="l">
              <a:lnSpc>
                <a:spcPts val="2575"/>
              </a:lnSpc>
              <a:buFont typeface="Arial" panose="020B0604020202020204"/>
              <a:buChar char="•"/>
            </a:pPr>
          </a:p>
        </p:txBody>
      </p:sp>
      <p:sp>
        <p:nvSpPr>
          <p:cNvPr id="20" name="TextBox 20"/>
          <p:cNvSpPr txBox="1"/>
          <p:nvPr/>
        </p:nvSpPr>
        <p:spPr>
          <a:xfrm>
            <a:off x="11046793" y="1373066"/>
            <a:ext cx="7241207" cy="232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>
                <a:solidFill>
                  <a:srgbClr val="002250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Passage de quiz</a:t>
            </a:r>
            <a:endParaRPr lang="en-US" sz="1900" b="1">
              <a:solidFill>
                <a:srgbClr val="002250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  <a:p>
            <a:pPr marL="410210" lvl="1" indent="-205105" algn="l">
              <a:lnSpc>
                <a:spcPts val="2660"/>
              </a:lnSpc>
              <a:buFont typeface="Arial" panose="020B0604020202020204"/>
              <a:buChar char="•"/>
            </a:pPr>
            <a:r>
              <a:rPr lang="en-US" sz="1900" b="1">
                <a:solidFill>
                  <a:srgbClr val="002250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Navigation : Catégories → Thèmes → Quiz</a:t>
            </a:r>
            <a:endParaRPr lang="en-US" sz="1900" b="1">
              <a:solidFill>
                <a:srgbClr val="002250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  <a:p>
            <a:pPr marL="410210" lvl="1" indent="-205105" algn="l">
              <a:lnSpc>
                <a:spcPts val="2660"/>
              </a:lnSpc>
              <a:buFont typeface="Arial" panose="020B0604020202020204"/>
              <a:buChar char="•"/>
            </a:pPr>
            <a:r>
              <a:rPr lang="en-US" sz="1900" b="1">
                <a:solidFill>
                  <a:srgbClr val="002250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Démarrage d'une tentative</a:t>
            </a:r>
            <a:endParaRPr lang="en-US" sz="1900" b="1">
              <a:solidFill>
                <a:srgbClr val="002250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  <a:p>
            <a:pPr marL="410210" lvl="1" indent="-205105" algn="l">
              <a:lnSpc>
                <a:spcPts val="2660"/>
              </a:lnSpc>
              <a:buFont typeface="Arial" panose="020B0604020202020204"/>
              <a:buChar char="•"/>
            </a:pPr>
            <a:r>
              <a:rPr lang="en-US" sz="1900" b="1">
                <a:solidFill>
                  <a:srgbClr val="002250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Réponse question par question</a:t>
            </a:r>
            <a:endParaRPr lang="en-US" sz="1900" b="1">
              <a:solidFill>
                <a:srgbClr val="002250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  <a:p>
            <a:pPr marL="410210" lvl="1" indent="-205105" algn="l">
              <a:lnSpc>
                <a:spcPts val="2660"/>
              </a:lnSpc>
              <a:buFont typeface="Arial" panose="020B0604020202020204"/>
              <a:buChar char="•"/>
            </a:pPr>
            <a:r>
              <a:rPr lang="en-US" sz="1900" b="1">
                <a:solidFill>
                  <a:srgbClr val="002250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Soumission et calcul automatique</a:t>
            </a:r>
            <a:endParaRPr lang="en-US" sz="1900" b="1">
              <a:solidFill>
                <a:srgbClr val="002250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  <a:p>
            <a:pPr marL="410210" lvl="1" indent="-205105" algn="l">
              <a:lnSpc>
                <a:spcPts val="2660"/>
              </a:lnSpc>
              <a:buFont typeface="Arial" panose="020B0604020202020204"/>
              <a:buChar char="•"/>
            </a:pPr>
            <a:r>
              <a:rPr lang="en-US" sz="1900" b="1">
                <a:solidFill>
                  <a:srgbClr val="002250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Affichage score et pourcentage</a:t>
            </a:r>
            <a:endParaRPr lang="en-US" sz="1900" b="1">
              <a:solidFill>
                <a:srgbClr val="002250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  <a:p>
            <a:pPr marL="410210" lvl="1" indent="-205105" algn="l">
              <a:lnSpc>
                <a:spcPts val="2660"/>
              </a:lnSpc>
              <a:buFont typeface="Arial" panose="020B0604020202020204"/>
              <a:buChar char="•"/>
            </a:pPr>
            <a:r>
              <a:rPr lang="en-US" sz="1900" b="1">
                <a:solidFill>
                  <a:srgbClr val="002250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Révision détaillée des réponses</a:t>
            </a:r>
            <a:endParaRPr lang="en-US" sz="1900" b="1">
              <a:solidFill>
                <a:srgbClr val="002250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8725980" y="5731978"/>
            <a:ext cx="9525" cy="3607535"/>
          </a:xfrm>
          <a:prstGeom prst="line">
            <a:avLst/>
          </a:prstGeom>
          <a:ln w="19050" cap="rnd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H="1">
            <a:off x="9336746" y="5641189"/>
            <a:ext cx="9525" cy="3607535"/>
          </a:xfrm>
          <a:prstGeom prst="line">
            <a:avLst/>
          </a:prstGeom>
          <a:ln w="19050" cap="rnd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 rot="0">
            <a:off x="4458583" y="6527536"/>
            <a:ext cx="915323" cy="80965"/>
            <a:chOff x="0" y="0"/>
            <a:chExt cx="241073" cy="213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12426962" y="6414228"/>
            <a:ext cx="915323" cy="80965"/>
            <a:chOff x="0" y="0"/>
            <a:chExt cx="241073" cy="213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1939753" y="3220245"/>
            <a:ext cx="915323" cy="80965"/>
            <a:chOff x="0" y="0"/>
            <a:chExt cx="241073" cy="2132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3" name="Freeform 13"/>
          <p:cNvSpPr/>
          <p:nvPr/>
        </p:nvSpPr>
        <p:spPr>
          <a:xfrm>
            <a:off x="4458583" y="4486073"/>
            <a:ext cx="922424" cy="1045889"/>
          </a:xfrm>
          <a:custGeom>
            <a:avLst/>
            <a:gdLst/>
            <a:ahLst/>
            <a:cxnLst/>
            <a:rect l="l" t="t" r="r" b="b"/>
            <a:pathLst>
              <a:path w="922424" h="1045889">
                <a:moveTo>
                  <a:pt x="0" y="0"/>
                </a:moveTo>
                <a:lnTo>
                  <a:pt x="922424" y="0"/>
                </a:lnTo>
                <a:lnTo>
                  <a:pt x="922424" y="1045890"/>
                </a:lnTo>
                <a:lnTo>
                  <a:pt x="0" y="104589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372544" y="4486073"/>
            <a:ext cx="888781" cy="900239"/>
          </a:xfrm>
          <a:custGeom>
            <a:avLst/>
            <a:gdLst/>
            <a:ahLst/>
            <a:cxnLst/>
            <a:rect l="l" t="t" r="r" b="b"/>
            <a:pathLst>
              <a:path w="888781" h="900239">
                <a:moveTo>
                  <a:pt x="0" y="0"/>
                </a:moveTo>
                <a:lnTo>
                  <a:pt x="888781" y="0"/>
                </a:lnTo>
                <a:lnTo>
                  <a:pt x="888781" y="900239"/>
                </a:lnTo>
                <a:lnTo>
                  <a:pt x="0" y="9002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7040249" y="9756873"/>
            <a:ext cx="937277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5"/>
              </a:lnSpc>
            </a:pPr>
            <a:r>
              <a:rPr lang="en-US" sz="1310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7</a:t>
            </a:r>
            <a:endParaRPr lang="en-US" sz="1310" b="1" spc="12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645491" y="5436713"/>
            <a:ext cx="2541507" cy="890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</a:pPr>
          </a:p>
          <a:p>
            <a:pPr algn="ctr">
              <a:lnSpc>
                <a:spcPts val="2360"/>
              </a:lnSpc>
            </a:pPr>
            <a:r>
              <a:rPr lang="en-US" sz="2000" b="1" spc="-39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Défis techniques :</a:t>
            </a:r>
            <a:endParaRPr lang="en-US" sz="2000" b="1" spc="-39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ctr">
              <a:lnSpc>
                <a:spcPts val="2360"/>
              </a:lnSpc>
            </a:pPr>
          </a:p>
        </p:txBody>
      </p:sp>
      <p:sp>
        <p:nvSpPr>
          <p:cNvPr id="17" name="TextBox 17"/>
          <p:cNvSpPr txBox="1"/>
          <p:nvPr/>
        </p:nvSpPr>
        <p:spPr>
          <a:xfrm>
            <a:off x="11646118" y="5659162"/>
            <a:ext cx="2477011" cy="595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60"/>
              </a:lnSpc>
            </a:pPr>
            <a:r>
              <a:rPr lang="en-US" sz="2000" b="1" spc="-39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Flexibilité et Réactivité</a:t>
            </a:r>
            <a:endParaRPr lang="en-US" sz="2000" b="1" spc="-39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173309" y="7018076"/>
            <a:ext cx="5962121" cy="2727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0370" lvl="1" indent="-210185" algn="l">
              <a:lnSpc>
                <a:spcPts val="3115"/>
              </a:lnSpc>
              <a:buFont typeface="Arial" panose="020B0604020202020204"/>
              <a:buChar char="•"/>
            </a:pPr>
            <a:r>
              <a:rPr lang="en-US" sz="1945" spc="17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Apprentissage CodeIgniter 4 : Nouvelle syntaxe, courbe d'apprentissage</a:t>
            </a:r>
            <a:endParaRPr lang="en-US" sz="1945" spc="17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420370" lvl="1" indent="-210185" algn="l">
              <a:lnSpc>
                <a:spcPts val="3115"/>
              </a:lnSpc>
              <a:buFont typeface="Arial" panose="020B0604020202020204"/>
              <a:buChar char="•"/>
            </a:pPr>
            <a:r>
              <a:rPr lang="en-US" sz="1945" spc="17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Relations en cascade : Complexité des Foreign Keys</a:t>
            </a:r>
            <a:endParaRPr lang="en-US" sz="1945" spc="17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420370" lvl="1" indent="-210185" algn="l">
              <a:lnSpc>
                <a:spcPts val="3115"/>
              </a:lnSpc>
              <a:buFont typeface="Arial" panose="020B0604020202020204"/>
              <a:buChar char="•"/>
            </a:pPr>
            <a:r>
              <a:rPr lang="en-US" sz="1945" spc="17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Travail en binôme : Synchronisation code et BDD</a:t>
            </a:r>
            <a:endParaRPr lang="en-US" sz="1945" spc="17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115"/>
              </a:lnSpc>
            </a:pPr>
          </a:p>
        </p:txBody>
      </p:sp>
      <p:sp>
        <p:nvSpPr>
          <p:cNvPr id="19" name="TextBox 19"/>
          <p:cNvSpPr txBox="1"/>
          <p:nvPr/>
        </p:nvSpPr>
        <p:spPr>
          <a:xfrm>
            <a:off x="10355832" y="6637972"/>
            <a:ext cx="6419542" cy="310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6885" lvl="1" indent="-238125" algn="l">
              <a:lnSpc>
                <a:spcPts val="3535"/>
              </a:lnSpc>
              <a:buFont typeface="Arial" panose="020B0604020202020204"/>
              <a:buChar char="•"/>
            </a:pPr>
            <a:r>
              <a:rPr lang="en-US" sz="2210" spc="19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Documentation officielle et tests progressifs</a:t>
            </a:r>
            <a:endParaRPr lang="en-US" sz="2210" spc="19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476885" lvl="1" indent="-238125" algn="l">
              <a:lnSpc>
                <a:spcPts val="3535"/>
              </a:lnSpc>
              <a:buFont typeface="Arial" panose="020B0604020202020204"/>
              <a:buChar char="•"/>
            </a:pPr>
            <a:r>
              <a:rPr lang="en-US" sz="2210" spc="19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Schémas relationnels clairs, utilisation phpMyAdmin</a:t>
            </a:r>
            <a:endParaRPr lang="en-US" sz="2210" spc="19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476885" lvl="1" indent="-238125" algn="l">
              <a:lnSpc>
                <a:spcPts val="3535"/>
              </a:lnSpc>
              <a:buFont typeface="Arial" panose="020B0604020202020204"/>
              <a:buChar char="•"/>
            </a:pPr>
            <a:r>
              <a:rPr lang="en-US" sz="2210" spc="19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Seeders/migrations pour partage structure</a:t>
            </a:r>
            <a:endParaRPr lang="en-US" sz="2210" spc="19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535"/>
              </a:lnSpc>
            </a:pPr>
          </a:p>
        </p:txBody>
      </p:sp>
      <p:sp>
        <p:nvSpPr>
          <p:cNvPr id="20" name="TextBox 20"/>
          <p:cNvSpPr txBox="1"/>
          <p:nvPr/>
        </p:nvSpPr>
        <p:spPr>
          <a:xfrm>
            <a:off x="1219200" y="237935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spc="-77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9.</a:t>
            </a:r>
            <a:endParaRPr lang="en-US" sz="3900" spc="-77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911178" y="2484323"/>
            <a:ext cx="622425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b="1" spc="-77">
                <a:solidFill>
                  <a:srgbClr val="00225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Difficultés rencontrées</a:t>
            </a:r>
            <a:endParaRPr lang="en-US" sz="3900" b="1" spc="-77">
              <a:solidFill>
                <a:srgbClr val="00225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grpSp>
        <p:nvGrpSpPr>
          <p:cNvPr id="22" name="Group 22"/>
          <p:cNvGrpSpPr/>
          <p:nvPr/>
        </p:nvGrpSpPr>
        <p:grpSpPr>
          <a:xfrm rot="0">
            <a:off x="0" y="0"/>
            <a:ext cx="6768300" cy="1312616"/>
            <a:chOff x="0" y="0"/>
            <a:chExt cx="1782597" cy="34571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6768300" y="0"/>
            <a:ext cx="11519700" cy="1312616"/>
            <a:chOff x="0" y="0"/>
            <a:chExt cx="1784703" cy="203359"/>
          </a:xfrm>
        </p:grpSpPr>
        <p:sp>
          <p:nvSpPr>
            <p:cNvPr id="26" name="Freeform 26"/>
            <p:cNvSpPr/>
            <p:nvPr/>
          </p:nvSpPr>
          <p:spPr>
            <a:xfrm rot="-10800000">
              <a:off x="0" y="0"/>
              <a:ext cx="1784703" cy="203359"/>
            </a:xfrm>
            <a:custGeom>
              <a:avLst/>
              <a:gdLst/>
              <a:ahLst/>
              <a:cxnLst/>
              <a:rect l="l" t="t" r="r" b="b"/>
              <a:pathLst>
                <a:path w="1784703" h="203359">
                  <a:moveTo>
                    <a:pt x="1784703" y="203359"/>
                  </a:moveTo>
                  <a:lnTo>
                    <a:pt x="0" y="203359"/>
                  </a:lnTo>
                  <a:lnTo>
                    <a:pt x="0" y="0"/>
                  </a:lnTo>
                  <a:lnTo>
                    <a:pt x="1784703" y="0"/>
                  </a:lnTo>
                  <a:close/>
                </a:path>
              </a:pathLst>
            </a:custGeom>
            <a:blipFill>
              <a:blip r:embed="rId5"/>
              <a:stretch>
                <a:fillRect t="-170922" b="-314153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702574" y="9452214"/>
            <a:ext cx="3900936" cy="3175"/>
          </a:xfrm>
          <a:prstGeom prst="line">
            <a:avLst/>
          </a:prstGeom>
          <a:ln w="28575" cap="flat">
            <a:solidFill>
              <a:srgbClr val="F7E7D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0771995" y="-466958"/>
            <a:ext cx="7206204" cy="10828995"/>
          </a:xfrm>
          <a:custGeom>
            <a:avLst/>
            <a:gdLst/>
            <a:ahLst/>
            <a:cxnLst/>
            <a:rect l="l" t="t" r="r" b="b"/>
            <a:pathLst>
              <a:path w="7206204" h="10828995">
                <a:moveTo>
                  <a:pt x="0" y="0"/>
                </a:moveTo>
                <a:lnTo>
                  <a:pt x="7206204" y="0"/>
                </a:lnTo>
                <a:lnTo>
                  <a:pt x="7206204" y="10828994"/>
                </a:lnTo>
                <a:lnTo>
                  <a:pt x="0" y="1082899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3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89861" y="1038225"/>
            <a:ext cx="7825807" cy="116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  <a:spcBef>
                <a:spcPct val="0"/>
              </a:spcBef>
            </a:pPr>
            <a:r>
              <a:rPr lang="en-US" sz="3900" b="1" u="none" strike="noStrike" spc="-77">
                <a:solidFill>
                  <a:srgbClr val="F8ECDF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Conclusion</a:t>
            </a:r>
            <a:endParaRPr lang="en-US" sz="3900" b="1" u="none" strike="noStrike" spc="-77">
              <a:solidFill>
                <a:srgbClr val="F8ECDF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0" lvl="0" indent="0" algn="l">
              <a:lnSpc>
                <a:spcPts val="4600"/>
              </a:lnSpc>
              <a:spcBef>
                <a:spcPct val="0"/>
              </a:spcBef>
            </a:pPr>
          </a:p>
        </p:txBody>
      </p:sp>
      <p:sp>
        <p:nvSpPr>
          <p:cNvPr id="5" name="TextBox 5"/>
          <p:cNvSpPr txBox="1"/>
          <p:nvPr/>
        </p:nvSpPr>
        <p:spPr>
          <a:xfrm>
            <a:off x="889861" y="2616319"/>
            <a:ext cx="16644653" cy="3313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05"/>
              </a:lnSpc>
              <a:spcBef>
                <a:spcPct val="0"/>
              </a:spcBef>
            </a:pPr>
            <a:r>
              <a:rPr lang="en-US" sz="3790" b="1">
                <a:solidFill>
                  <a:srgbClr val="CD8E81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Objectifs atteints :</a:t>
            </a:r>
            <a:endParaRPr lang="en-US" sz="3790" b="1">
              <a:solidFill>
                <a:srgbClr val="CD8E81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  <a:p>
            <a:pPr marL="818515" lvl="1" indent="-408940" algn="l">
              <a:lnSpc>
                <a:spcPts val="5305"/>
              </a:lnSpc>
              <a:buFont typeface="Arial" panose="020B0604020202020204"/>
              <a:buChar char="•"/>
            </a:pPr>
            <a:r>
              <a:rPr lang="en-US" sz="3790">
                <a:solidFill>
                  <a:srgbClr val="FAF2EA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 Plateforme complète et fonctionnelle</a:t>
            </a:r>
            <a:endParaRPr lang="en-US" sz="3790">
              <a:solidFill>
                <a:srgbClr val="FAF2EA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818515" lvl="1" indent="-408940" algn="l">
              <a:lnSpc>
                <a:spcPts val="5305"/>
              </a:lnSpc>
              <a:buFont typeface="Arial" panose="020B0604020202020204"/>
              <a:buChar char="•"/>
            </a:pPr>
            <a:r>
              <a:rPr lang="en-US" sz="3790">
                <a:solidFill>
                  <a:srgbClr val="FAF2EA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Architecture MVC maîtrisée</a:t>
            </a:r>
            <a:endParaRPr lang="en-US" sz="3790">
              <a:solidFill>
                <a:srgbClr val="FAF2EA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818515" lvl="1" indent="-408940" algn="l">
              <a:lnSpc>
                <a:spcPts val="5305"/>
              </a:lnSpc>
              <a:buFont typeface="Arial" panose="020B0604020202020204"/>
              <a:buChar char="•"/>
            </a:pPr>
            <a:r>
              <a:rPr lang="en-US" sz="3790">
                <a:solidFill>
                  <a:srgbClr val="FAF2EA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 Sécurité web implémentée</a:t>
            </a:r>
            <a:endParaRPr lang="en-US" sz="3790">
              <a:solidFill>
                <a:srgbClr val="FAF2EA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818515" lvl="1" indent="-408940" algn="l">
              <a:lnSpc>
                <a:spcPts val="5305"/>
              </a:lnSpc>
              <a:buFont typeface="Arial" panose="020B0604020202020204"/>
              <a:buChar char="•"/>
            </a:pPr>
            <a:r>
              <a:rPr lang="en-US" sz="3790">
                <a:solidFill>
                  <a:srgbClr val="FAF2EA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 Base de données optimisée</a:t>
            </a:r>
            <a:endParaRPr lang="en-US" sz="3790">
              <a:solidFill>
                <a:srgbClr val="FAF2EA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614076" y="7849336"/>
            <a:ext cx="7825807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  <a:spcBef>
                <a:spcPct val="0"/>
              </a:spcBef>
            </a:pPr>
            <a:r>
              <a:rPr lang="en-US" sz="3900" b="1" spc="-77">
                <a:solidFill>
                  <a:srgbClr val="F8ECDF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on passe vers le test du site  --&gt;</a:t>
            </a:r>
            <a:endParaRPr lang="en-US" sz="3900" b="1" spc="-77">
              <a:solidFill>
                <a:srgbClr val="F8ECDF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3763</Words>
  <Application>WPS Presentation</Application>
  <PresentationFormat>On-screen Show (4:3)</PresentationFormat>
  <Paragraphs>237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League Spartan</vt:lpstr>
      <vt:lpstr>Gotham</vt:lpstr>
      <vt:lpstr>Gotham Bold</vt:lpstr>
      <vt:lpstr>Arial</vt:lpstr>
      <vt:lpstr>Open Sans Bold</vt:lpstr>
      <vt:lpstr>Open Sans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Entreprise Agence Marketing  Professionnel Infographie Illustration Photos Moderne Formes Bleu Rose</dc:title>
  <dc:creator/>
  <cp:lastModifiedBy>Rihab Rochdi</cp:lastModifiedBy>
  <cp:revision>2</cp:revision>
  <dcterms:created xsi:type="dcterms:W3CDTF">2006-08-16T00:00:00Z</dcterms:created>
  <dcterms:modified xsi:type="dcterms:W3CDTF">2026-01-24T17:40:33Z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E042818F9E634AB4B3CC28EBFEF1B124_12</vt:lpwstr>
  </property>
  <property fmtid="{D5CDD505-2E9C-101B-9397-08002B2CF9AE}" pid="3" name="KSOProductBuildVer">
    <vt:lpwstr>1036-12.2.0.23196</vt:lpwstr>
  </property>
</Properties>
</file>